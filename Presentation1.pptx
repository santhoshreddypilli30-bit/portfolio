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5" r:id="rId3"/>
    <p:sldId id="265" r:id="rId4"/>
    <p:sldId id="258" r:id="rId5"/>
    <p:sldId id="259" r:id="rId6"/>
    <p:sldId id="257" r:id="rId7"/>
    <p:sldId id="262" r:id="rId8"/>
    <p:sldId id="264" r:id="rId9"/>
    <p:sldId id="268" r:id="rId10"/>
    <p:sldId id="267" r:id="rId11"/>
    <p:sldId id="266" r:id="rId12"/>
    <p:sldId id="260" r:id="rId13"/>
    <p:sldId id="261" r:id="rId14"/>
    <p:sldId id="273" r:id="rId15"/>
    <p:sldId id="272" r:id="rId16"/>
    <p:sldId id="271" r:id="rId17"/>
    <p:sldId id="270" r:id="rId18"/>
    <p:sldId id="269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033" autoAdjust="0"/>
  </p:normalViewPr>
  <p:slideViewPr>
    <p:cSldViewPr snapToGrid="0">
      <p:cViewPr varScale="1">
        <p:scale>
          <a:sx n="79" d="100"/>
          <a:sy n="79" d="100"/>
        </p:scale>
        <p:origin x="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FE3D-3222-60FA-E655-B9FE13C2C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BFF577-8BD9-AA96-4280-82665CC92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457AD-FD3E-D430-2350-B72EEAFA5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9434-5313-4F4B-AE34-9EC07809026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2FAD9-387D-2093-CD59-D7493DCAA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78F20-414A-9AB7-17AE-716CD610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9DE5-520F-4283-8A6B-4A8F523C1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88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51A3A-0879-67DF-92E7-78FAD9E29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3716D-62C3-6DEE-2629-A5247C882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C4FFD-DFA8-FE9C-7DA5-4D6610ED8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9434-5313-4F4B-AE34-9EC07809026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190BA-2DC3-519E-C253-CF0D7ECC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D5DF6-4525-3CB3-ECFD-59B53493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9DE5-520F-4283-8A6B-4A8F523C1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633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1CAFE-688A-64CD-9EA6-1A391DCCA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60DA0-C0C2-B4E5-51F1-13415369C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20303-589A-60A7-EC26-A9B4501FA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9434-5313-4F4B-AE34-9EC07809026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B33DD-B932-6073-8DF4-7F8CB0E1F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29A2A-0284-E65E-F723-E5233E5DE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9DE5-520F-4283-8A6B-4A8F523C1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545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2E399-49D3-2E6F-B223-9C16775BE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09D0C-EEE1-36F7-68F5-C931FC360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127B5-4694-7432-8F88-E2FDC66D9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D45A9-0B51-C7A5-E57D-89B9F8875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9434-5313-4F4B-AE34-9EC07809026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28B8B-A0D9-2A38-D103-A8839E080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F6576-8574-77B1-3AEA-B9FBFAB5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9DE5-520F-4283-8A6B-4A8F523C1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177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AD68-88B9-A1B9-A031-A6DDDCC2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E99D5-720F-67CB-0F2E-14C6C92A9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A4459-E128-6E26-AD60-9BC11009D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9D091E-2D53-3C8B-A247-375026273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083037-D1A9-361E-DD67-1F93C3B5C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4FE6F8-66EF-810B-FE66-16C4002B0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9434-5313-4F4B-AE34-9EC07809026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5BF2AA-2667-EF07-1EF7-DA771D67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6E2A0D-9DE7-3D77-2AD5-AB0C1CD83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9DE5-520F-4283-8A6B-4A8F523C1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163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2356-3912-4502-D680-AC65C105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D0146F-18AE-3861-F61B-1F4A04E1A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9434-5313-4F4B-AE34-9EC07809026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5180E-2B88-47AD-D0D9-ADCE8AF4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4CC8F-8A3E-1ED4-890B-C25DA75CE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9DE5-520F-4283-8A6B-4A8F523C1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973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9B882-ED10-8A92-FF08-AFB9F274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9434-5313-4F4B-AE34-9EC07809026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88326-896F-0BD0-F4BC-6F6EFCDD2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E5FC6-FA34-5886-26C3-049E9E7B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9DE5-520F-4283-8A6B-4A8F523C1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084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E0B99-DD3B-A787-07D3-2901448BE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A24DF-04D8-8E40-23EE-7317082D7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37D10-A2A7-B97D-2CCC-60EDE8D7F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05A65-FDA6-87C5-AE8E-7C353FEBA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9434-5313-4F4B-AE34-9EC07809026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88640-59C5-0BDA-6670-473802BDC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B5C04-B0BB-F4DC-FC1F-7A5991EB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9DE5-520F-4283-8A6B-4A8F523C1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137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AA206-7B77-4814-5900-C29AB78E8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20359-5EC7-2421-84A2-61A7526C0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E4085-3028-40B6-46DB-B703E3279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83C8-E845-20B9-F613-35CA3B8EA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9434-5313-4F4B-AE34-9EC07809026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11818-3E15-8D43-B972-377F1D10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349AE-94F6-3AE4-1812-B58977447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9DE5-520F-4283-8A6B-4A8F523C1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1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224DF-D9C9-97E8-B5B5-31B3B80C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85387D-8663-6B28-550A-3DC3BBE31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16295-FB76-E1EF-4EE4-C798E43F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9434-5313-4F4B-AE34-9EC07809026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72A2E-B060-2432-640C-A60F4BA64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3E2DD-6343-8C00-2C8E-CE1D3048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9DE5-520F-4283-8A6B-4A8F523C1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47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FFFFA-7449-B169-B4D0-D5ADE61D3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F1D64-AE3D-21DD-4412-708D7D6A8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0DAAF-4852-875D-FA00-62B24EDD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69434-5313-4F4B-AE34-9EC07809026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B6EE6-324D-10EA-202A-A1D4AF28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7ADD0-92F9-5BE4-5091-F90B7BC0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9DE5-520F-4283-8A6B-4A8F523C1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38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7F4C-17CE-F06B-266D-5C5D07BC5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BBD64-5F3A-7204-A2CD-539C312FC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A8C81-5F35-640F-8195-B0D3B52D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D4DC2-7E2F-4E13-A620-E1D0FB88244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232CC-8829-81FF-57D7-4A931D83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40FFE-37D9-0C1C-4BA4-8EBF9586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E64E-B9D3-479C-961B-B22CEFB4A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15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86335-8E59-EC1D-F088-317188A61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75E49-FD66-C1B2-C26F-3C6B5A83A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2DE41-43CF-EB01-AC70-778BEB74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D4DC2-7E2F-4E13-A620-E1D0FB88244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6571A-226D-BF5A-9938-F2D2F7AEE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371C4-2802-900C-E348-F93EC8BA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E64E-B9D3-479C-961B-B22CEFB4A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003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4DD98-D1EC-9EF5-C368-A024D6590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96322-DA39-7E09-997F-9C3C45DC5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A9DF7-3485-F467-8868-2242EA69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D4DC2-7E2F-4E13-A620-E1D0FB88244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D61A4-2955-76B3-7241-065FD83F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7133C-E237-300A-B92D-4392B24B5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E64E-B9D3-479C-961B-B22CEFB4A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74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F77C0-5B37-2675-B8CE-808DC533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21170-5C8B-52F6-9F3A-60C045FED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A5D11-B402-6D24-E5C0-D0ED56E42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56AA6-04CC-29EE-B107-31E1AB66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D4DC2-7E2F-4E13-A620-E1D0FB88244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15704-8FA5-EC5D-199C-97A5C71B2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F34CE-05FC-917C-7795-B43E3A8FD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E64E-B9D3-479C-961B-B22CEFB4A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542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B3309-B243-97BC-23CE-47A710EB8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69FC-EBFC-78C7-2AB4-0685CB2AE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2AF03-4C41-F07F-65B6-DF428C966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B7BF4E-87BB-4B80-9C6B-9CDD25185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9C5AD-E6A8-43AB-9AE0-5E5A4C3C6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B715B3-821D-073D-0407-5334EF44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D4DC2-7E2F-4E13-A620-E1D0FB88244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C5AE73-ED09-7200-43BA-135A9B7B2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CCCFB-71AF-F908-432C-B113F047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E64E-B9D3-479C-961B-B22CEFB4A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151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36995-E76E-8C24-700F-20037E3AA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8C88B9-8E9C-2527-6381-C3CFC0691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D4DC2-7E2F-4E13-A620-E1D0FB88244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AF2DF-832D-F823-EB1A-32826005C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EFF37-98D5-5699-39A4-1C9909AA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E64E-B9D3-479C-961B-B22CEFB4A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314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D87922-A818-676E-69FB-B0ECC28CE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D4DC2-7E2F-4E13-A620-E1D0FB88244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BF79D-7F68-19C1-24D2-814E803BC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28D40-DA0C-7F76-87DD-6C4CE655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E64E-B9D3-479C-961B-B22CEFB4A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7675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1CED-8EB5-A554-96E2-3BF42CAAD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5965A-75E7-F434-692D-35BCD6AD0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3E1B1-AC6F-28A2-77B3-F937FAA0C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FF533-F0AF-B7D6-52B1-8340BC4BE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D4DC2-7E2F-4E13-A620-E1D0FB88244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8671B-0F18-6AED-2181-90BD931DA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69F47-5B55-C853-8C8A-3936D17F1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E64E-B9D3-479C-961B-B22CEFB4A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8131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8F0C9-7743-E305-50F3-78987F1E3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DA6621-23FB-6D1B-9545-AF001AAA1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4928F-0CA4-CCFD-A637-55F57C5F8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14B6F-4AE9-A6AE-E32C-78FC43668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D4DC2-7E2F-4E13-A620-E1D0FB88244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22744-8C3D-1D5A-2750-10836FFE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7B44F-0F9B-EE45-C2F5-BA396E8F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E64E-B9D3-479C-961B-B22CEFB4A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2034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C42E8-3AC2-B9FF-DA0B-F7C212A2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98487-DF25-5301-24E0-1733F08ED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9D3E6-09E7-C3B0-91D4-18A090EE4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D4DC2-7E2F-4E13-A620-E1D0FB88244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7D312-2A6E-409C-3001-28E41577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F98-4CD0-2F53-D514-8E6709707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E64E-B9D3-479C-961B-B22CEFB4A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9022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B56EE2-9ABC-CB10-00A7-1A9765DA4D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A7114-0F1B-7D3D-7BFA-B65283D3D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42AC6-D97E-945C-4B8E-5715A7E2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D4DC2-7E2F-4E13-A620-E1D0FB88244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C987A-7806-1EC0-9965-B7F315F80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D4B65-B327-14CB-DE57-102D32FD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AE64E-B9D3-479C-961B-B22CEFB4A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38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00EED2F-8395-0E90-0137-171BE9EA7C8B}"/>
              </a:ext>
            </a:extLst>
          </p:cNvPr>
          <p:cNvSpPr/>
          <p:nvPr userDrawn="1"/>
        </p:nvSpPr>
        <p:spPr>
          <a:xfrm>
            <a:off x="0" y="0"/>
            <a:ext cx="12192000" cy="9727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E01AE4-888C-BA66-3851-CF6944D9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62FE6-0B87-AB68-0216-3BF1B2AC7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2DCD-69BD-99C3-6CB1-4B8584EDD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69434-5313-4F4B-AE34-9EC07809026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A065D-8662-A894-5FEF-9A688F102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26776-B2A4-46DF-0351-FF94566B7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79DE5-520F-4283-8A6B-4A8F523C1960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89AC85-80AC-F779-C3DB-967F9E5D032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42" r="21951" b="11419"/>
          <a:stretch>
            <a:fillRect/>
          </a:stretch>
        </p:blipFill>
        <p:spPr>
          <a:xfrm>
            <a:off x="11128442" y="68093"/>
            <a:ext cx="914399" cy="78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4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EDD9B4-2653-BA1E-0B17-BC8A0ACDD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D71F4-1602-4856-FBCA-8D09F172C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E15B9-B825-56D2-A862-C1D1A2750A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D4DC2-7E2F-4E13-A620-E1D0FB88244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867E3-807A-5605-80C0-E80246A66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FC6A7-EF90-077F-927B-E6F851BC6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AE64E-B9D3-479C-961B-B22CEFB4A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76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1E8097-5FE3-F967-DD62-3A66E2CD5C22}"/>
              </a:ext>
            </a:extLst>
          </p:cNvPr>
          <p:cNvSpPr txBox="1"/>
          <p:nvPr/>
        </p:nvSpPr>
        <p:spPr>
          <a:xfrm>
            <a:off x="2978285" y="239763"/>
            <a:ext cx="623543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 presentation on</a:t>
            </a:r>
          </a:p>
          <a:p>
            <a:pPr algn="ctr"/>
            <a:r>
              <a:rPr lang="en-I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 diagnosis of an impeller using Convolutional Neural Networks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72F70-FEB1-4D7F-323A-D89DAB874A25}"/>
              </a:ext>
            </a:extLst>
          </p:cNvPr>
          <p:cNvSpPr txBox="1"/>
          <p:nvPr/>
        </p:nvSpPr>
        <p:spPr>
          <a:xfrm>
            <a:off x="1104089" y="2052536"/>
            <a:ext cx="374839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M. Satyadev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Mechanical Engineering,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RGUKT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Nuzvid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F1B89-4A4A-6CB2-03D8-5201D9B3594F}"/>
              </a:ext>
            </a:extLst>
          </p:cNvPr>
          <p:cNvSpPr txBox="1"/>
          <p:nvPr/>
        </p:nvSpPr>
        <p:spPr>
          <a:xfrm>
            <a:off x="7628106" y="2052536"/>
            <a:ext cx="31712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Mahesh(N200391)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Sravanthi(N200637)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Santhosh Reddy(N200885)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 Vamsi Krishna(N200174)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Suresh(N200314)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Nithin(N190869)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4A4F77-F842-CC93-2F6E-26B372D32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45" r="20675" b="10727"/>
          <a:stretch>
            <a:fillRect/>
          </a:stretch>
        </p:blipFill>
        <p:spPr>
          <a:xfrm>
            <a:off x="5239966" y="3689924"/>
            <a:ext cx="1712068" cy="14626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FD100D-5B29-47BF-27F8-9CB03CBB73CE}"/>
              </a:ext>
            </a:extLst>
          </p:cNvPr>
          <p:cNvSpPr txBox="1"/>
          <p:nvPr/>
        </p:nvSpPr>
        <p:spPr>
          <a:xfrm>
            <a:off x="2363821" y="5262664"/>
            <a:ext cx="7538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Rajiv Gandhi University of Knowledge and Technologies</a:t>
            </a:r>
          </a:p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Nuzvid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766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4309474C-2242-178E-E509-8938A5103E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399" y="1273749"/>
            <a:ext cx="784368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Mechanical systems in Industry 4.0 demand: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monitoring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making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Fault detection without human intervention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Rotating machines → impellers, gears, bearings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Failures cause: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 time costs ₹10 lakh–₹50 lakh/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 rejection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Safety risks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deep-learning-based classifier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detection.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57C6F4-5F57-1279-D6F7-1A560352A1BA}"/>
              </a:ext>
            </a:extLst>
          </p:cNvPr>
          <p:cNvSpPr txBox="1"/>
          <p:nvPr/>
        </p:nvSpPr>
        <p:spPr>
          <a:xfrm>
            <a:off x="428854" y="86659"/>
            <a:ext cx="57458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27402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E1D467-928A-EF7A-BB1C-E0369B5A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58DBDB-FA64-D256-A6DF-4777CFDD96BA}"/>
              </a:ext>
            </a:extLst>
          </p:cNvPr>
          <p:cNvSpPr txBox="1"/>
          <p:nvPr/>
        </p:nvSpPr>
        <p:spPr>
          <a:xfrm>
            <a:off x="330741" y="77822"/>
            <a:ext cx="74513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BAD06-57D3-3513-30AD-316A95192923}"/>
              </a:ext>
            </a:extLst>
          </p:cNvPr>
          <p:cNvSpPr txBox="1"/>
          <p:nvPr/>
        </p:nvSpPr>
        <p:spPr>
          <a:xfrm>
            <a:off x="496111" y="1454038"/>
            <a:ext cx="827823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Industries face challenges in identifying small or hidden defects in impellers.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requires trained personnel and is prone to fatigue-based errors.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surface geometries make small cracks hard to detect.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feedback causes delays in quality control.</a:t>
            </a:r>
          </a:p>
        </p:txBody>
      </p:sp>
    </p:spTree>
    <p:extLst>
      <p:ext uri="{BB962C8B-B14F-4D97-AF65-F5344CB8AC3E}">
        <p14:creationId xmlns:p14="http://schemas.microsoft.com/office/powerpoint/2010/main" val="4228896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14427-FA50-FF02-917B-04955BB4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AA5531-488F-D2CF-3181-BCA34D5FF4B1}"/>
              </a:ext>
            </a:extLst>
          </p:cNvPr>
          <p:cNvSpPr txBox="1"/>
          <p:nvPr/>
        </p:nvSpPr>
        <p:spPr>
          <a:xfrm>
            <a:off x="350195" y="136187"/>
            <a:ext cx="73832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EBCAC-5EEA-0DB8-3324-64C943ED19D1}"/>
              </a:ext>
            </a:extLst>
          </p:cNvPr>
          <p:cNvSpPr txBox="1"/>
          <p:nvPr/>
        </p:nvSpPr>
        <p:spPr>
          <a:xfrm>
            <a:off x="447472" y="1011677"/>
            <a:ext cx="8550613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CNN model capable of binary classification (defective vs. non-defective).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well-structured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from impeller front-view images.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 to increase robustness under varying lighting and orientation.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using optimized hyperparameters.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 using metrics such as accuracy, precision, recall, and confusion matrix.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 possible real-time implementation for industries.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7110EA-4F4B-C213-3475-6D7A3408C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556" y="1309533"/>
            <a:ext cx="3801090" cy="381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3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1C51B-27CA-02A1-77C3-2AFB736F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F5F609-AE1B-76BF-2986-DDDA41FA259F}"/>
              </a:ext>
            </a:extLst>
          </p:cNvPr>
          <p:cNvSpPr txBox="1"/>
          <p:nvPr/>
        </p:nvSpPr>
        <p:spPr>
          <a:xfrm>
            <a:off x="496111" y="1410510"/>
            <a:ext cx="7607029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Impellers are the key rotating components in submersible pumps.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structural integrity directly impacts pump efficiency and service life.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visual inspection is subjective, slow, and prone to  errors.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learning, especially CNN’s can automate defect detection from images.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CDA4D-879D-7949-D052-84B84B2192C3}"/>
              </a:ext>
            </a:extLst>
          </p:cNvPr>
          <p:cNvSpPr/>
          <p:nvPr/>
        </p:nvSpPr>
        <p:spPr>
          <a:xfrm>
            <a:off x="8210145" y="1410510"/>
            <a:ext cx="3745149" cy="38326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E76903-D2EC-48B7-CB93-F9D6D5921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782" y="1614791"/>
            <a:ext cx="3103257" cy="32675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5A32A1-D31A-A183-6A3E-6BC4C8CF49B7}"/>
              </a:ext>
            </a:extLst>
          </p:cNvPr>
          <p:cNvSpPr txBox="1"/>
          <p:nvPr/>
        </p:nvSpPr>
        <p:spPr>
          <a:xfrm>
            <a:off x="328857" y="148948"/>
            <a:ext cx="6538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IMPELLER?</a:t>
            </a:r>
          </a:p>
        </p:txBody>
      </p:sp>
    </p:spTree>
    <p:extLst>
      <p:ext uri="{BB962C8B-B14F-4D97-AF65-F5344CB8AC3E}">
        <p14:creationId xmlns:p14="http://schemas.microsoft.com/office/powerpoint/2010/main" val="683073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E2C0E-8ABC-E877-01F1-85DB15BE3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5680A9-0127-3F62-2F5B-EF06998FFA27}"/>
              </a:ext>
            </a:extLst>
          </p:cNvPr>
          <p:cNvSpPr txBox="1"/>
          <p:nvPr/>
        </p:nvSpPr>
        <p:spPr>
          <a:xfrm>
            <a:off x="374673" y="95617"/>
            <a:ext cx="83869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CNN??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904CAF-EDD3-B5D5-C2D7-3E7B8560F50E}"/>
              </a:ext>
            </a:extLst>
          </p:cNvPr>
          <p:cNvSpPr txBox="1"/>
          <p:nvPr/>
        </p:nvSpPr>
        <p:spPr>
          <a:xfrm>
            <a:off x="471949" y="902830"/>
            <a:ext cx="8573729" cy="585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deep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models designed to automatically analyze and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images.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extract useful patterns and features from raw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pixels and classify them effectively.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Layers: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basic features like edges, curves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and textures.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Pooling Layers: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image size while keeping important features.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feature maps into a single vector.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 features to make final classification.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Produces the final prediction (defective or non-defective).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are widely used because they learn features automatically and work extremely well for image-based fault detection.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99EC4C-E7F6-8069-BA78-884A2BD79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928" y="1586467"/>
            <a:ext cx="5182098" cy="25132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47834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A439B-D2CC-7861-A5D2-570F49300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856834-70B7-32B2-845D-202C2DC99876}"/>
              </a:ext>
            </a:extLst>
          </p:cNvPr>
          <p:cNvSpPr txBox="1"/>
          <p:nvPr/>
        </p:nvSpPr>
        <p:spPr>
          <a:xfrm>
            <a:off x="334296" y="128100"/>
            <a:ext cx="75118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DATA-SET DESCRIPTION: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F3364-CEF9-ADE1-A970-0E89E0BE989A}"/>
              </a:ext>
            </a:extLst>
          </p:cNvPr>
          <p:cNvSpPr txBox="1"/>
          <p:nvPr/>
        </p:nvSpPr>
        <p:spPr>
          <a:xfrm>
            <a:off x="747253" y="1553497"/>
            <a:ext cx="2536722" cy="1465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DATA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train images: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6633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ok_front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2875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def_front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3758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30EBE-037F-EC6C-2503-5F7F8D8F3EAF}"/>
              </a:ext>
            </a:extLst>
          </p:cNvPr>
          <p:cNvSpPr txBox="1"/>
          <p:nvPr/>
        </p:nvSpPr>
        <p:spPr>
          <a:xfrm>
            <a:off x="4090219" y="1494503"/>
            <a:ext cx="26153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test images: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ok_front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def_front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A5629-99A7-28BD-D14A-D5F36D80CA57}"/>
              </a:ext>
            </a:extLst>
          </p:cNvPr>
          <p:cNvSpPr txBox="1"/>
          <p:nvPr/>
        </p:nvSpPr>
        <p:spPr>
          <a:xfrm>
            <a:off x="580103" y="3197973"/>
            <a:ext cx="5260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Distribution &amp; Imbalance: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59607A-535E-CB63-18D6-A92190393AC3}"/>
              </a:ext>
            </a:extLst>
          </p:cNvPr>
          <p:cNvSpPr txBox="1"/>
          <p:nvPr/>
        </p:nvSpPr>
        <p:spPr>
          <a:xfrm>
            <a:off x="747253" y="3698968"/>
            <a:ext cx="6558615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OK images: 3,137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defective images: 4,211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 ratio: ~1.34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34% more defective images than OK images.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Yet both classes contain sufficient samples for learning.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can still learn well due to large sample size per class.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D8BCA7-9FD1-3922-54F0-1CAE6722A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025" y="1196962"/>
            <a:ext cx="2536722" cy="25367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B41516-D8CB-482F-3771-6F70D23D62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025" y="4193466"/>
            <a:ext cx="2536722" cy="25367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053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DCE94-6BA4-2210-7F95-8BD9DA8EC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0EED7E-7CC4-BFB8-8E14-86F0E22C4188}"/>
              </a:ext>
            </a:extLst>
          </p:cNvPr>
          <p:cNvSpPr txBox="1"/>
          <p:nvPr/>
        </p:nvSpPr>
        <p:spPr>
          <a:xfrm>
            <a:off x="311682" y="107891"/>
            <a:ext cx="7436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Augmentation: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CAC823-5ACB-5C38-2F73-6E3968F48A79}"/>
                  </a:ext>
                </a:extLst>
              </p:cNvPr>
              <p:cNvSpPr txBox="1"/>
              <p:nvPr/>
            </p:nvSpPr>
            <p:spPr>
              <a:xfrm>
                <a:off x="447869" y="1240972"/>
                <a:ext cx="8808098" cy="5509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target_size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(64, 64) → image resized to </a:t>
                </a:r>
                <a:r>
                  <a:rPr lang="en-US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64 * 64</a:t>
                </a:r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color_mode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'grayscale’ → </a:t>
                </a:r>
                <a:r>
                  <a:rPr lang="en-US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1-channel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batch_size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8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class_mode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'binary’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Loading &amp; Steps per Epoch: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Steps per epoch (train):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6633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829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𝟖𝟐𝟗</m:t>
                      </m:r>
                      <m:r>
                        <m:rPr>
                          <m:nor/>
                        </m:rPr>
                        <a:rPr lang="ar-AE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𝐬𝐭𝐞𝐩𝐬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𝐞𝐩𝐨𝐜𝐡</m:t>
                      </m:r>
                    </m:oMath>
                  </m:oMathPara>
                </a14:m>
                <a:endParaRPr lang="ar-A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 steps (test):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715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89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375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𝟗𝟎</m:t>
                      </m:r>
                      <m:r>
                        <m:rPr>
                          <m:nor/>
                        </m:rPr>
                        <a:rPr lang="ar-AE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𝐬𝐭𝐞𝐩𝐬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ar-AE" b="1">
                          <a:latin typeface="Cambria Math" panose="02040503050406030204" pitchFamily="18" charset="0"/>
                        </a:rPr>
                        <m:t>𝐞𝐩𝐨𝐜𝐡</m:t>
                      </m:r>
                    </m:oMath>
                  </m:oMathPara>
                </a14:m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ar-A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in each epoch, the model sees all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6633 train images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validates on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715 test images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CAC823-5ACB-5C38-2F73-6E3968F48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69" y="1240972"/>
                <a:ext cx="8808098" cy="5509137"/>
              </a:xfrm>
              <a:prstGeom prst="rect">
                <a:avLst/>
              </a:prstGeom>
              <a:blipFill>
                <a:blip r:embed="rId2"/>
                <a:stretch>
                  <a:fillRect l="-1038" t="-6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332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6C539-5B61-AF9F-1DD5-7FCB9597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9BFAC3-2F68-6088-ACA3-AEAAAE154076}"/>
              </a:ext>
            </a:extLst>
          </p:cNvPr>
          <p:cNvSpPr txBox="1"/>
          <p:nvPr/>
        </p:nvSpPr>
        <p:spPr>
          <a:xfrm>
            <a:off x="352577" y="150284"/>
            <a:ext cx="10039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Architecture (2 Convolution Layers):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36D1F-1ED9-2D98-4430-4FAF8666E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043" y="1245681"/>
            <a:ext cx="5486875" cy="436663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2A59DE-AEDF-45A0-420C-7BA5FE874CE2}"/>
              </a:ext>
            </a:extLst>
          </p:cNvPr>
          <p:cNvSpPr txBox="1"/>
          <p:nvPr/>
        </p:nvSpPr>
        <p:spPr>
          <a:xfrm>
            <a:off x="432082" y="1333009"/>
            <a:ext cx="5312468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CNN used is simple and lightweight, consisting of: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convolution layers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(feature extraction)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max-pooling layers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(dimensionality reduction)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layer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dense layers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(classification)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sigmoid neuron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binary classification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025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48532-3B10-3BCA-7F76-4932D0946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528D21-3225-FA03-1397-F885D839C5FD}"/>
              </a:ext>
            </a:extLst>
          </p:cNvPr>
          <p:cNvSpPr txBox="1"/>
          <p:nvPr/>
        </p:nvSpPr>
        <p:spPr>
          <a:xfrm>
            <a:off x="363893" y="104859"/>
            <a:ext cx="7753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Map Dimensions: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9263DB-EF63-6B8D-E266-91090EA985FD}"/>
              </a:ext>
            </a:extLst>
          </p:cNvPr>
          <p:cNvSpPr txBox="1"/>
          <p:nvPr/>
        </p:nvSpPr>
        <p:spPr>
          <a:xfrm>
            <a:off x="494524" y="860935"/>
            <a:ext cx="5159827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size flow through the network: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× 64 ×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1st pooling: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× 32 × 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2nd pooling: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× 16 × 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Flattening produces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2,048 features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become inputs to the fully connected layers.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1E996-24C4-2266-668E-9101D7FD53E4}"/>
              </a:ext>
            </a:extLst>
          </p:cNvPr>
          <p:cNvSpPr txBox="1"/>
          <p:nvPr/>
        </p:nvSpPr>
        <p:spPr>
          <a:xfrm>
            <a:off x="363893" y="3666931"/>
            <a:ext cx="7893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Layer Parameter Calculations: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DAD65-4205-AFEC-8C3F-979BDDEE7B37}"/>
              </a:ext>
            </a:extLst>
          </p:cNvPr>
          <p:cNvSpPr txBox="1"/>
          <p:nvPr/>
        </p:nvSpPr>
        <p:spPr>
          <a:xfrm>
            <a:off x="774440" y="4539772"/>
            <a:ext cx="45626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Convolution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Filters: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Kernel: 3 ×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channels: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parameters =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(3×3×1)×8+8=72+8=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CBDAAF-04C7-40C1-C195-6D97446EB14D}"/>
              </a:ext>
            </a:extLst>
          </p:cNvPr>
          <p:cNvSpPr txBox="1"/>
          <p:nvPr/>
        </p:nvSpPr>
        <p:spPr>
          <a:xfrm>
            <a:off x="6649616" y="4535536"/>
            <a:ext cx="47679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Convolution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Filters: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Kernel: 3 ×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channels: 8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parameters = (3×3×8)×8+8=576+8=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584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905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C4524-EC18-E0FB-7168-12C637417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823422-C1DC-0239-DC2E-DFBDAD6667A9}"/>
              </a:ext>
            </a:extLst>
          </p:cNvPr>
          <p:cNvSpPr txBox="1"/>
          <p:nvPr/>
        </p:nvSpPr>
        <p:spPr>
          <a:xfrm>
            <a:off x="242001" y="104821"/>
            <a:ext cx="8089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Layer Parameter Calculations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D25476-0924-F4C5-13B4-39A6604A1D40}"/>
                  </a:ext>
                </a:extLst>
              </p:cNvPr>
              <p:cNvSpPr txBox="1"/>
              <p:nvPr/>
            </p:nvSpPr>
            <p:spPr>
              <a:xfrm>
                <a:off x="606489" y="926249"/>
                <a:ext cx="7529804" cy="6690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Flatten output: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2048 neurons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Dense Layer 1 (128 units)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2048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128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128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262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144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128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𝟐𝟔𝟐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𝟐𝟕𝟐</m:t>
                      </m:r>
                    </m:oMath>
                  </m:oMathPara>
                </a14:m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Dense Layer 2 (128 units)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128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128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128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384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128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𝟓𝟏𝟐</m:t>
                      </m:r>
                    </m:oMath>
                  </m:oMathPara>
                </a14:m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Layer (1 unit, Sigmoid)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128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128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𝟏𝟐𝟗</m:t>
                      </m:r>
                    </m:oMath>
                  </m:oMathPara>
                </a14:m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80</m:t>
                      </m:r>
                      <m:r>
                        <a:rPr lang="en-IN" b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584</m:t>
                      </m:r>
                      <m:r>
                        <a:rPr lang="en-IN" b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262</m:t>
                      </m:r>
                      <m:r>
                        <a:rPr lang="en-IN" b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272</m:t>
                      </m:r>
                      <m:r>
                        <a:rPr lang="en-IN" b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IN" b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512</m:t>
                      </m:r>
                      <m:r>
                        <a:rPr lang="en-IN" b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129</m:t>
                      </m:r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𝟐𝟕𝟗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𝟓𝟕𝟕</m:t>
                      </m:r>
                      <m:r>
                        <m:rPr>
                          <m:nor/>
                        </m:rPr>
                        <a:rPr lang="en-IN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𝒑𝒂𝒓𝒂𝒎𝒆𝒕𝒆𝒓𝒔</m:t>
                      </m:r>
                    </m:oMath>
                  </m:oMathPara>
                </a14:m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parameters = 279,577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Trainable parameters = 279,577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Non-trainable parameters = 0</a:t>
                </a:r>
              </a:p>
              <a:p>
                <a:pPr>
                  <a:lnSpc>
                    <a:spcPct val="150000"/>
                  </a:lnSpc>
                </a:pP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D25476-0924-F4C5-13B4-39A6604A1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89" y="926249"/>
                <a:ext cx="7529804" cy="6690550"/>
              </a:xfrm>
              <a:prstGeom prst="rect">
                <a:avLst/>
              </a:prstGeom>
              <a:blipFill>
                <a:blip r:embed="rId2"/>
                <a:stretch>
                  <a:fillRect l="-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A042785-288C-ED7F-51CB-0801F2252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543" y="1443818"/>
            <a:ext cx="4976291" cy="39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94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4B1C9-1B71-3383-B4CF-9B87117FF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7C0341-93F3-3BEC-6F4C-112EFF3FEDB8}"/>
              </a:ext>
            </a:extLst>
          </p:cNvPr>
          <p:cNvSpPr txBox="1"/>
          <p:nvPr/>
        </p:nvSpPr>
        <p:spPr>
          <a:xfrm>
            <a:off x="270586" y="162790"/>
            <a:ext cx="11290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compilation &amp; Training Configuration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079788-F3D5-A125-A6A0-11C2EB573536}"/>
                  </a:ext>
                </a:extLst>
              </p:cNvPr>
              <p:cNvSpPr txBox="1"/>
              <p:nvPr/>
            </p:nvSpPr>
            <p:spPr>
              <a:xfrm>
                <a:off x="643811" y="998447"/>
                <a:ext cx="10543591" cy="5859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Optimizer: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Adam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(adaptive learning rate)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Loss: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Cross-Entropy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cross-entropy formula:               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                                                  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L=−</a:t>
                </a: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ylog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(p)−(1−y)log(1−p)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        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true label)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          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predicted probability (sigmoid output)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Epochs =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 steps/epoch ≈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829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 steps/epoch ≈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90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training iterations: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829</m:t>
                      </m:r>
                      <m:r>
                        <m:rPr>
                          <m:nor/>
                        </m:rP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steps</m:t>
                      </m:r>
                      <m:r>
                        <m:rPr>
                          <m:nor/>
                        </m:rP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epoch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10</m:t>
                      </m:r>
                      <m:r>
                        <m:rPr>
                          <m:nor/>
                        </m:rP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epochs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𝟖𝟐𝟗𝟎</m:t>
                      </m:r>
                      <m:r>
                        <m:rPr>
                          <m:nor/>
                        </m:rPr>
                        <a:rPr lang="en-IN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b="1">
                          <a:latin typeface="Cambria Math" panose="02040503050406030204" pitchFamily="18" charset="0"/>
                        </a:rPr>
                        <m:t>𝐢𝐭𝐞𝐫𝐚𝐭𝐢𝐨𝐧𝐬</m:t>
                      </m:r>
                    </m:oMath>
                  </m:oMathPara>
                </a14:m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079788-F3D5-A125-A6A0-11C2EB573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11" y="998447"/>
                <a:ext cx="10543591" cy="5859553"/>
              </a:xfrm>
              <a:prstGeom prst="rect">
                <a:avLst/>
              </a:prstGeo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8446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FDAF4-B7CB-A874-DCE9-594C695A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FC656D-9BF9-8858-3F74-0EAFFBBE1F6D}"/>
              </a:ext>
            </a:extLst>
          </p:cNvPr>
          <p:cNvSpPr txBox="1"/>
          <p:nvPr/>
        </p:nvSpPr>
        <p:spPr>
          <a:xfrm>
            <a:off x="531845" y="307909"/>
            <a:ext cx="8005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VS test Accuracy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B99F8-BBFC-FA5A-6C08-86F18A376BE9}"/>
              </a:ext>
            </a:extLst>
          </p:cNvPr>
          <p:cNvSpPr txBox="1"/>
          <p:nvPr/>
        </p:nvSpPr>
        <p:spPr>
          <a:xfrm>
            <a:off x="531845" y="1119673"/>
            <a:ext cx="62328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accuracy increases steadily from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69%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Epoch 1 to approximately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97%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Epoch 9.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 also improves consistently, starting at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82%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reaching around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95–96%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curves follow a similar pattern, indicating that the model is learning meaningful features without significant overfitting.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Epoch 3, both training and test accuracy stabilize above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90%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strong classification ability.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close proximity of the two curves suggests the model generalizes well to unseen data.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26B807-9D3C-78F2-0760-A7415D2EE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660" y="991254"/>
            <a:ext cx="5087247" cy="31844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683563-906D-7026-3F31-3616CBC37B59}"/>
              </a:ext>
            </a:extLst>
          </p:cNvPr>
          <p:cNvSpPr txBox="1"/>
          <p:nvPr/>
        </p:nvSpPr>
        <p:spPr>
          <a:xfrm>
            <a:off x="849086" y="4839925"/>
            <a:ext cx="3265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BB4496-49C4-1E20-4558-F0872293B0FD}"/>
              </a:ext>
            </a:extLst>
          </p:cNvPr>
          <p:cNvSpPr txBox="1"/>
          <p:nvPr/>
        </p:nvSpPr>
        <p:spPr>
          <a:xfrm>
            <a:off x="849086" y="5389692"/>
            <a:ext cx="108794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both curves above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95%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reflects a highly effective CNN architecture.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is stable and reliable, with minimal gap between train and test accuracy.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858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FFC44-C981-9641-35AE-E79F446BA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FA832-1BAF-C689-6CC9-F402DE364471}"/>
              </a:ext>
            </a:extLst>
          </p:cNvPr>
          <p:cNvSpPr txBox="1"/>
          <p:nvPr/>
        </p:nvSpPr>
        <p:spPr>
          <a:xfrm>
            <a:off x="613834" y="186278"/>
            <a:ext cx="7595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VS Test loss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227D2F-8B69-26B6-3DB8-E948C9ED0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122" y="1033255"/>
            <a:ext cx="5246054" cy="33390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3B77AA-6192-94E2-B771-255026170045}"/>
              </a:ext>
            </a:extLst>
          </p:cNvPr>
          <p:cNvSpPr txBox="1"/>
          <p:nvPr/>
        </p:nvSpPr>
        <p:spPr>
          <a:xfrm>
            <a:off x="830424" y="1278294"/>
            <a:ext cx="603690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loss shows a sharp decrease from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0.57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0.08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efficient learning and parameter tuning.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loss begins at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0.35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fluctuates slightly in early epochs, and then consistently decreases to approximately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0.13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final epoch.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minor variations in test loss at Epochs 2 and 3, both curves converge toward lower values as training progresses.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test loss remains close to training loss, confirming that the model does not overfit.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710AFE-5FD8-7DA1-2203-C9152A6A8389}"/>
              </a:ext>
            </a:extLst>
          </p:cNvPr>
          <p:cNvSpPr txBox="1"/>
          <p:nvPr/>
        </p:nvSpPr>
        <p:spPr>
          <a:xfrm>
            <a:off x="933061" y="5001208"/>
            <a:ext cx="3340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DC5E2-822D-3FF6-F54E-F05289AAE08F}"/>
              </a:ext>
            </a:extLst>
          </p:cNvPr>
          <p:cNvSpPr txBox="1"/>
          <p:nvPr/>
        </p:nvSpPr>
        <p:spPr>
          <a:xfrm>
            <a:off x="933061" y="5462873"/>
            <a:ext cx="106835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decline in loss demonstrates good optimization and stable learning.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low final loss values indicate the CNN is confident and accurate in its predictions.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maintains a healthy balance between learning and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2222634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EDAB2-C2D1-A1EC-BCF0-B63A0E682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A84A77-4EC3-7A3E-A5EA-D3DCEA737B67}"/>
              </a:ext>
            </a:extLst>
          </p:cNvPr>
          <p:cNvSpPr txBox="1"/>
          <p:nvPr/>
        </p:nvSpPr>
        <p:spPr>
          <a:xfrm>
            <a:off x="409678" y="114147"/>
            <a:ext cx="7268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Workflow: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F16E63-6DEA-99AF-A2CF-CD546F531003}"/>
              </a:ext>
            </a:extLst>
          </p:cNvPr>
          <p:cNvSpPr txBox="1"/>
          <p:nvPr/>
        </p:nvSpPr>
        <p:spPr>
          <a:xfrm>
            <a:off x="681135" y="1066209"/>
            <a:ext cx="73618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test image is selected and preprocessed: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× 64 pixels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grayscale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to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0–1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Reshaped to match model input: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(1, 64, 64, 1)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BD927D-9EDB-D432-2FE1-E32952D92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662" y="1702945"/>
            <a:ext cx="4239893" cy="14233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69523D-CEDD-DAAC-94B1-75B1E463319D}"/>
              </a:ext>
            </a:extLst>
          </p:cNvPr>
          <p:cNvSpPr txBox="1"/>
          <p:nvPr/>
        </p:nvSpPr>
        <p:spPr>
          <a:xfrm>
            <a:off x="675600" y="2705877"/>
            <a:ext cx="67367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image is passed through the CNN: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layers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edges, textures, and defect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Pooling layers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noise and highlight dominant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feature maps into a 1D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layers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 high-level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produces a probability score between 0 and 1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3B2861-97DD-5A13-5649-0B983DA41EEA}"/>
              </a:ext>
            </a:extLst>
          </p:cNvPr>
          <p:cNvSpPr txBox="1"/>
          <p:nvPr/>
        </p:nvSpPr>
        <p:spPr>
          <a:xfrm>
            <a:off x="746449" y="4639493"/>
            <a:ext cx="100957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Decision: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&gt; 0.5 → Non-defective (OK)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≤ 0.5 → Defective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test image is displayed along with the predicted label, allowing visual confirmation of classification accuracy.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652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88A846-7B5B-1A7E-617B-305903470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CC667F-9BDC-761D-E6F2-E54E3C08A37F}"/>
              </a:ext>
            </a:extLst>
          </p:cNvPr>
          <p:cNvSpPr txBox="1"/>
          <p:nvPr/>
        </p:nvSpPr>
        <p:spPr>
          <a:xfrm>
            <a:off x="783771" y="1138334"/>
            <a:ext cx="850018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Automated Quality Inspection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of casting defects in impellers during manufacturing.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manual visual inspection.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Production Line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with conveyor systems and cameras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inspection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separates defective and non-defective components.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Foundry and Casting Industry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common casting defects such as cracks, blowholes, shrinkage, and surface irregularities.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overall product reliability.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Predictive Maintenance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defects prevents failures in pumps and rotating machinery.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unplanned downtime and maintenance costs.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Industrial Automation and Industry 4.0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the basis for intelligent manufacturing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deployed on embedded devices (Jetson Nano, Raspberry Pi) for edge AI inspection.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Scalable to Other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CNN technique can be applied to gears, bearings, blades, valves, and other mechanical parts.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22480A-BF04-2F6C-F034-DFF0456BA3C6}"/>
              </a:ext>
            </a:extLst>
          </p:cNvPr>
          <p:cNvSpPr txBox="1"/>
          <p:nvPr/>
        </p:nvSpPr>
        <p:spPr>
          <a:xfrm>
            <a:off x="690464" y="149290"/>
            <a:ext cx="6475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</p:txBody>
      </p:sp>
    </p:spTree>
    <p:extLst>
      <p:ext uri="{BB962C8B-B14F-4D97-AF65-F5344CB8AC3E}">
        <p14:creationId xmlns:p14="http://schemas.microsoft.com/office/powerpoint/2010/main" val="1805264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9B8B73-FF51-6DB5-658C-D8BDF7CB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13DA8F-6EE8-06E3-9A7A-A719E656E151}"/>
              </a:ext>
            </a:extLst>
          </p:cNvPr>
          <p:cNvSpPr txBox="1"/>
          <p:nvPr/>
        </p:nvSpPr>
        <p:spPr>
          <a:xfrm>
            <a:off x="615821" y="1168846"/>
            <a:ext cx="8584163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CNN-based system was successfully developed for automatic defect detection in submersible pump impellers.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trained on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7,348 real industrial images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strong performance, with high accuracy and consistent reduction in loss across training.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lightweight CNN architecture with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279,577 parameters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proved sufficient to learn and distinguish defect patterns effectively.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and augmentation enhanced robustness, enabling reliable classification of both defective and non-defective components.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demonstrates that deep learning can significantly improve quality control by providing fast, consistent, and automated inspection, reducing reliance on manual visual checks.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of the CNN model is approximately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95%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D2860-DE50-FCA9-997F-DAE082F04DDB}"/>
              </a:ext>
            </a:extLst>
          </p:cNvPr>
          <p:cNvSpPr txBox="1"/>
          <p:nvPr/>
        </p:nvSpPr>
        <p:spPr>
          <a:xfrm>
            <a:off x="615821" y="133805"/>
            <a:ext cx="5840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</p:spTree>
    <p:extLst>
      <p:ext uri="{BB962C8B-B14F-4D97-AF65-F5344CB8AC3E}">
        <p14:creationId xmlns:p14="http://schemas.microsoft.com/office/powerpoint/2010/main" val="58441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18848E-64EE-3A2C-3697-A3D05AC210F4}"/>
              </a:ext>
            </a:extLst>
          </p:cNvPr>
          <p:cNvSpPr txBox="1"/>
          <p:nvPr/>
        </p:nvSpPr>
        <p:spPr>
          <a:xfrm>
            <a:off x="466927" y="87550"/>
            <a:ext cx="6439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DE3FE1-A1F5-16F7-750D-D6A62E850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952429"/>
              </p:ext>
            </p:extLst>
          </p:nvPr>
        </p:nvGraphicFramePr>
        <p:xfrm>
          <a:off x="779293" y="1262363"/>
          <a:ext cx="1067988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9963">
                  <a:extLst>
                    <a:ext uri="{9D8B030D-6E8A-4147-A177-3AD203B41FA5}">
                      <a16:colId xmlns:a16="http://schemas.microsoft.com/office/drawing/2014/main" val="2904672829"/>
                    </a:ext>
                  </a:extLst>
                </a:gridCol>
                <a:gridCol w="3559963">
                  <a:extLst>
                    <a:ext uri="{9D8B030D-6E8A-4147-A177-3AD203B41FA5}">
                      <a16:colId xmlns:a16="http://schemas.microsoft.com/office/drawing/2014/main" val="1855804791"/>
                    </a:ext>
                  </a:extLst>
                </a:gridCol>
                <a:gridCol w="3559963">
                  <a:extLst>
                    <a:ext uri="{9D8B030D-6E8A-4147-A177-3AD203B41FA5}">
                      <a16:colId xmlns:a16="http://schemas.microsoft.com/office/drawing/2014/main" val="2977237322"/>
                    </a:ext>
                  </a:extLst>
                </a:gridCol>
              </a:tblGrid>
              <a:tr h="334992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papers/article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390016"/>
                  </a:ext>
                </a:extLst>
              </a:tr>
              <a:tr h="6031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Recognition and classification of casting defects using the CNN algorithm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Chigateri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Materials (2023)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work also targets casting defects (similar to your impeller dataset), using CNN to categorize cast parts as defective/not defective.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ScienceDirect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0981901"/>
                  </a:ext>
                </a:extLst>
              </a:tr>
              <a:tr h="6031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Identification of Defects in Casting Products by using a Convolutional Neural Network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International Journal of Precision Engineering &amp; Manufacturing-Green Technology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Presents a CNN-based approach for defect detection in cast products; useful to compare methodology, preprocessing, dataset handling with yours.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ResearchGate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0514071"/>
                  </a:ext>
                </a:extLst>
              </a:tr>
              <a:tr h="60316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convolutional neural network‑based method for workpiece surface defect detection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Xing &amp; Jia, Measurement (2021)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Although focused on general surface defects (not impeller-specific), the paper shows how CNNs can effectively detect defects on complex surfaces — good for background/literature-review slides.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ScienceDirect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453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122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8403</TotalTime>
  <Words>1703</Words>
  <Application>Microsoft Office PowerPoint</Application>
  <PresentationFormat>Widescreen</PresentationFormat>
  <Paragraphs>222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Cambria</vt:lpstr>
      <vt:lpstr>Cambria Math</vt:lpstr>
      <vt:lpstr>Times New Roman</vt:lpstr>
      <vt:lpstr>Wingdings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Reddy Pilli</dc:creator>
  <cp:lastModifiedBy>Santhosh Reddy Pilli</cp:lastModifiedBy>
  <cp:revision>6</cp:revision>
  <dcterms:created xsi:type="dcterms:W3CDTF">2025-12-02T11:01:20Z</dcterms:created>
  <dcterms:modified xsi:type="dcterms:W3CDTF">2025-12-10T09:26:13Z</dcterms:modified>
</cp:coreProperties>
</file>